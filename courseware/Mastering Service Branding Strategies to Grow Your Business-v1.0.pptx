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mastering-service-branding-strategies-to-grow-your-business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rvice-bran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920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Mastering Service Branding Strategies to Grow Your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8912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C233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30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4892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 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facilitator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SPECIALISMS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strategy, digital experience and workplace transformation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development and applied business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organisation, function and customer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 moment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memorable service experience and why it stayed with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gap between a promise and actual delivery.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service-brand decision you want to improve today.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assumptions and contribute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Disagree with ideas, not 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public or course data only; protect live customer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 mode; step out quietly if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lunch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Full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 the full day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Define and design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value, trust and business impact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1–2: Babylist and DBS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strategy, promise and touchpoints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3–4: Ritz-Carlton and Starbucks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Activate and evaluate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employee adoption and recovery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5–6: Zappos and Airbnb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measures and improvement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7–8; course recap and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https://www.tertiarycourses.com.sg/mastering-service-branding-strategies-to-grow-your-business.html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course registration page for details and materials.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Activity packs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 issues the eight activity folders in the training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One folder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activity contains scenario, questions, procedure, debrief and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754880" cy="32918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21" y="1965960"/>
            <a:ext cx="2662517" cy="301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285232"/>
            <a:ext cx="4754880" cy="548640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58384"/>
            <a:ext cx="4480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  <a:hlinkClick r:id="rId3"/>
              </a:rPr>
              <a:t>https://lms-tms.tertiaryinfotech.com/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28800"/>
            <a:ext cx="553212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1828800"/>
            <a:ext cx="91440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53912" y="216712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16712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938528"/>
            <a:ext cx="43434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the LMS with your registered email; use the OTP or your password.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3236976"/>
            <a:ext cx="553212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3236976"/>
            <a:ext cx="9144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53912" y="3575304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57530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346704"/>
            <a:ext cx="43434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this course from your enrolled courses.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4645152"/>
            <a:ext cx="553212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4645152"/>
            <a:ext cx="91440" cy="1188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53912" y="49834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498348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754880"/>
            <a:ext cx="434340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slides and the Learner Guide.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Promise · Proof · People ·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END-TO-END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service-brand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a valued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credible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Enable people and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Deliver across touchpoints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EVIDENCE BEFORE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Verified public 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information with a source and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Organisation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Research, journey data, standards, logs and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assumption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simulated input used only for learning and clearly labelled.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Evaluation finding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conclusion with method, limitation, owner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brand promise is credible only when the operating system can deliver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Service branding aligns strategy, people, process, evidence and customer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 Brand Value and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Intangibility · trust · risk reduction · differentiation · commercial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Service Brand Value and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service brand sets an expectation about the outcome and treatment customers should receive.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Customers interpret the brand through people, processes, physical and digital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Consistent proof lowers perceived risk before an intangible service can be evaluated.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strong service brand can support preference, loyalty, referrals, resilience and price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service brand is a promise made visible through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Identity attracts attention; repeated delivery earns belief.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services need a different branding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Intangible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Customers cannot inspect the full service before buying; cues and proof reduce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Inseparable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Employees and customers often co-produce the experience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Performance can change across people, channels, locations and moments.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Perishable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Unused capacity cannot be stored; demand and access shape the experience.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 is co-created, not merely exchanged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product era · goods-dominant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service era · service-dominant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Goods-dominant logic: value is built into the offering and realised at the point of sale.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customer is a passive recipient of what was produced.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Attention sits on value-in-exchange — the price paid.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Service-dominant logic: value is intangible and created with the customer in real time.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customer is an active partner in producing the outcome.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Attention sits on value-in-use — the benefit actually realised.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Perceived risk rises as tangibility 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61391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20343" y="1828800"/>
            <a:ext cx="461391" cy="566928"/>
          </a:xfrm>
          <a:prstGeom prst="rect">
            <a:avLst/>
          </a:prstGeom>
          <a:solidFill>
            <a:srgbClr val="276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63446" y="1828800"/>
            <a:ext cx="461391" cy="566928"/>
          </a:xfrm>
          <a:prstGeom prst="rect">
            <a:avLst/>
          </a:prstGeom>
          <a:solidFill>
            <a:srgbClr val="2F6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6549" y="1828800"/>
            <a:ext cx="461391" cy="566928"/>
          </a:xfrm>
          <a:prstGeom prst="rect">
            <a:avLst/>
          </a:prstGeom>
          <a:solidFill>
            <a:srgbClr val="376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9652" y="1828800"/>
            <a:ext cx="461391" cy="566928"/>
          </a:xfrm>
          <a:prstGeom prst="rect">
            <a:avLst/>
          </a:prstGeom>
          <a:solidFill>
            <a:srgbClr val="3F5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2755" y="1828800"/>
            <a:ext cx="461391" cy="566928"/>
          </a:xfrm>
          <a:prstGeom prst="rect">
            <a:avLst/>
          </a:prstGeom>
          <a:solidFill>
            <a:srgbClr val="475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858" y="1828800"/>
            <a:ext cx="461391" cy="566928"/>
          </a:xfrm>
          <a:prstGeom prst="rect">
            <a:avLst/>
          </a:prstGeom>
          <a:solidFill>
            <a:srgbClr val="4F5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8961" y="1828800"/>
            <a:ext cx="461391" cy="566928"/>
          </a:xfrm>
          <a:prstGeom prst="rect">
            <a:avLst/>
          </a:prstGeom>
          <a:solidFill>
            <a:srgbClr val="574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064" y="1828800"/>
            <a:ext cx="461391" cy="566928"/>
          </a:xfrm>
          <a:prstGeom prst="rect">
            <a:avLst/>
          </a:prstGeom>
          <a:solidFill>
            <a:srgbClr val="5F4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65167" y="1828800"/>
            <a:ext cx="461391" cy="566928"/>
          </a:xfrm>
          <a:prstGeom prst="rect">
            <a:avLst/>
          </a:prstGeom>
          <a:solidFill>
            <a:srgbClr val="674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8270" y="1828800"/>
            <a:ext cx="461391" cy="566928"/>
          </a:xfrm>
          <a:prstGeom prst="rect">
            <a:avLst/>
          </a:prstGeom>
          <a:solidFill>
            <a:srgbClr val="6F4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51373" y="1828800"/>
            <a:ext cx="461391" cy="566928"/>
          </a:xfrm>
          <a:prstGeom prst="rect">
            <a:avLst/>
          </a:prstGeom>
          <a:solidFill>
            <a:srgbClr val="773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6" y="1828800"/>
            <a:ext cx="461391" cy="566928"/>
          </a:xfrm>
          <a:prstGeom prst="rect">
            <a:avLst/>
          </a:prstGeom>
          <a:solidFill>
            <a:srgbClr val="813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579" y="1828800"/>
            <a:ext cx="461391" cy="566928"/>
          </a:xfrm>
          <a:prstGeom prst="rect">
            <a:avLst/>
          </a:prstGeom>
          <a:solidFill>
            <a:srgbClr val="8B4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80682" y="1828800"/>
            <a:ext cx="461391" cy="566928"/>
          </a:xfrm>
          <a:prstGeom prst="rect">
            <a:avLst/>
          </a:prstGeom>
          <a:solidFill>
            <a:srgbClr val="96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23785" y="1828800"/>
            <a:ext cx="461391" cy="566928"/>
          </a:xfrm>
          <a:prstGeom prst="rect">
            <a:avLst/>
          </a:prstGeom>
          <a:solidFill>
            <a:srgbClr val="A0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6888" y="1828800"/>
            <a:ext cx="461391" cy="566928"/>
          </a:xfrm>
          <a:prstGeom prst="rect">
            <a:avLst/>
          </a:prstGeom>
          <a:solidFill>
            <a:srgbClr val="AB6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9991" y="1828800"/>
            <a:ext cx="461391" cy="566928"/>
          </a:xfrm>
          <a:prstGeom prst="rect">
            <a:avLst/>
          </a:prstGeom>
          <a:solidFill>
            <a:srgbClr val="B56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3094" y="1828800"/>
            <a:ext cx="461391" cy="566928"/>
          </a:xfrm>
          <a:prstGeom prst="rect">
            <a:avLst/>
          </a:prstGeom>
          <a:solidFill>
            <a:srgbClr val="C07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6197" y="1828800"/>
            <a:ext cx="461391" cy="566928"/>
          </a:xfrm>
          <a:prstGeom prst="rect">
            <a:avLst/>
          </a:prstGeom>
          <a:solidFill>
            <a:srgbClr val="CA7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39300" y="1828800"/>
            <a:ext cx="461391" cy="566928"/>
          </a:xfrm>
          <a:prstGeom prst="rect">
            <a:avLst/>
          </a:prstGeom>
          <a:solidFill>
            <a:srgbClr val="D5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82403" y="1828800"/>
            <a:ext cx="461391" cy="566928"/>
          </a:xfrm>
          <a:prstGeom prst="rect">
            <a:avLst/>
          </a:prstGeom>
          <a:solidFill>
            <a:srgbClr val="DF8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25506" y="1828800"/>
            <a:ext cx="461391" cy="566928"/>
          </a:xfrm>
          <a:prstGeom prst="rect">
            <a:avLst/>
          </a:prstGeom>
          <a:solidFill>
            <a:srgbClr val="EA9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68609" y="1828800"/>
            <a:ext cx="461391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1828800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Easy to evaluate · lower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1828800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Hard to evaluate · higher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2697480"/>
            <a:ext cx="3361944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2697480"/>
            <a:ext cx="336194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295351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Search qualities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3566160"/>
            <a:ext cx="29596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 be judged before purchase by direct inspection, such as a room, a menu or a device.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3504" y="2697480"/>
            <a:ext cx="3361944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3504" y="2697480"/>
            <a:ext cx="336194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4672" y="295351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Experience qualities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4672" y="3566160"/>
            <a:ext cx="29596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 be judged only after use, such as a meal, a stay, a course or a consultation.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9768" y="2697480"/>
            <a:ext cx="3361944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9768" y="2697480"/>
            <a:ext cx="3361944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0936" y="295351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Credence qualities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0936" y="3566160"/>
            <a:ext cx="29596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Hard to judge even after use because the customer lacks the expertise, such as legal, medical or advisory work.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440680"/>
            <a:ext cx="10634472" cy="777240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532120"/>
            <a:ext cx="100858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Why it matters:  </a:t>
            </a:r>
            <a:r>
              <a:rPr sz="1300" b="0">
                <a:solidFill>
                  <a:srgbClr val="161B26"/>
                </a:solidFill>
                <a:latin typeface="Arial"/>
              </a:rPr>
              <a:t>As an offer moves toward credence, customers lean on risk relievers instead of inspection: standards, guarantees, credentials and brand reputation. That is the work a service brand does.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service-brand value is created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Clear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Credible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Consistent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Positive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Trust and advocacy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Benefits across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Faster recognition, lower perceived risk and clearer reasons to choose.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Employee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standards and meaning guide judgement at moments that matter.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Preference, retention, referrals and premium confidence can strengthen economics.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coherent brand focuses investment and makes expansion easier to govern.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identity and brand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Identity is what the organisation intends: name, promise, voice, design and standards.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Management can define and communicate these signals.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create expectations before service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Meaning is what customers and employees conclude from lived experience.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is shaped by outcomes, emotions, stories and recovery.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cannot be declared into existence.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Each service characteristic sets a branding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Intangibility →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be touched or inspected, so supply physical and peripheral cues that stand in for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Inseparability → interaction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Produced and consumed at the same moment, so manage the customer–employee encounter directly.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Perishability → capacity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be stored, so match supply to demand through scheduling, access and pricing.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Variability → standards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Quality depends on human actors, so standardise the core process and invest in frontline capability.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Sell the capability, not the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the evidence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it means for your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 is a distribution mechanism; the customer buys the outcome it enables.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streaming service sells discovery and access, not ownership of recordings.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sportswear brand sells athletic progress through apps, community and tracking, not only footwear.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Ask what capability the customer gains, not what the organisation hands over.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the promise around the realised benefit so it survives changes in the delivery mechanism.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Value emerges across an ecosystem of customers, employees, partners and digital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forms of service-brand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Reliable outcomes, accuracy, timeliness and problem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Competence, empathy, judgement and confidence in the promise.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Environment, content, reviews, cases, process visibility and guarantees.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7Ps as brand-delivery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Proposition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Product/service, price and promotion frame the value and expectation.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and channel determine convenience, inclusion and reach.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and process convert the promise into customer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Proof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Physical evidence and digital cues make quality easier to judge.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decision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Recognise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Remember and share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Sources of perceived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Functional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Will it solve the problem?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 outcome worth the price?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Will access or delay create loss?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will the choice signal to others?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Competitive advantage versus empty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Distinctive promise tied to a valued customer outcome.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Capabilities and standards competitors cannot easily copy.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from consistent delivery and recovery.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Generic superlatives such as best, trusted or world-class.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Visual refresh without operational change.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promise employees cannot explain or deliver.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Strategy, research, talent, systems and service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Touchpoint performance, employee behaviour and recovery.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Awareness, trust, satisfaction, preference and advocacy.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Retention, referral, revenue quality and strategic resilience.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Differentiation must be experienced, not merely described.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test is whether customers can name the difference and employees can reproduce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Activities — Service Brand Value and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Babylist: Make an Intangible Service Easy to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DBS: Translate 'Live more, Bank less' into Business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Evidence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Named public case source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Training assumptions clearly separated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Babylist: Make an Intangible Service Easy to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Shopify's Babylist example to diagnose how a service brand reduces risk and creates a clear reason to choose.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Brand-value chain, proof inventory and competitive-advantage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Shopify case · customer-risk cards · value-chain template · evidence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Shopify presents Babylist as a service-brand example and describes service branding as building a recognisable identity and experience around an intangible offering.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https://www.shopify.com/sg/blog/service-branding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Singapore platform, customer interviews and commercial figures are fictional training inputs, not Babylist disclosures.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Mock research shows first-time parents value reassurance, time saved and unbiased recommendations.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current landing page leads with features and has no process map, expert proof or outcome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1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functional, financial, time and social risks affect the customer's decision?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brand benefits could matter to customers, employees and the business?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three tangible cues would make the promise easier to trust?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defensible competitive advantage, and what evidence is still missing?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Babylist: Make an Intangible Service Easy to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submission separates facts from assumptions, links at least three proof cues to customer risk and business benefit, and states a defensible advantage with validation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DBS: Translate 'Live more, Bank less' into Business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DBS's public brand promise to trace how a promise can influence customer experience and business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Promise-to-impact logic model and management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DBS public promise · impact-chain canvas · counterfactual cards · debrief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DBS states that its brand promise is 'Live more, Bank less' and describes making banking simple and effortless so customers can spend more time on what matters.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https://www.dbs.com/about-us/who-we-are/our-promise-to-you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regional bank and performance data are fictional; no DBS operating metrics are supplied or inferred.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Small-business customers report repeated-document requests, slow onboarding and unclear case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Management defines success as lower customer effort and faster time to first value, subject to compliance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2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customer outcome makes the DBS promise relevant rather than merely memorable?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service capabilities would be required to make a comparable promise credible?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could improved delivery affect trust, retention, referral and cost-to-serve?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alternative explanations must be considered before claiming business impact?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DBS: Translate 'Live more, Bank less' into Business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logic model contains capability, delivery, customer and business layers; every causal claim is labelled; and the proposed promise is original, relevant and deliverable.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Service Brand Value and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Babylist: Make an Intangible Service Easy to Trust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the business impact and benefits of tangible service-brand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DBS: Translate 'Live more, Bank less' into Business Value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Demonstrate appreciation of a service brand and its competitive advantage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public facts, organisation evidence and training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each improvement to a decision, owner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Brand Strategy to Service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purpose · audience · positioning · promise · touchpoints · tangible cues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From Brand Strategy to Service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Clarifies the valued outcome and role the organisation chooses to play.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Positioning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Defines the audience, frame of reference, relevant difference and proof.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Turns positioning into an expectation that can be translated into service standards.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Touchpoints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strategy to the moments before, during and after service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Service-brand strategy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Research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Audit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promise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Design 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Govern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progress is the customer trying to make?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risk, effort or uncertainty blocks progress?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outcome and feeling define success?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influences choice, use and renewal?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Positioning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a specific priority audience and decision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Name the valued difference and trade-off.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Identify capabilities that make the claim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Trying to appeal equally to everyone weakens relevance.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Copying category language creates sameness.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promise without operational proof raises disappointment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practical brand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Relevant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Connects to a meaningful customer outcome.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Distinctive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Creates a recognisable reason to choose.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Deliverable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Can be translated into behaviours, process and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Promise-to-proof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Service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Touchpoint cues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Tangibilise the intangible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Show 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stages, timelines, owners and what happens next.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Show expertise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credentials, cases, demonstrations and useful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Show outcomes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specific evidence and customer stories with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Show assurance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expectations, safeguards, access and recovery commitments.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service expansion of the marketing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 layer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price, place and promotion frame the offer but cannot by themselves carry an intangible promise.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human actors who deliver the promise in real time and shape how it is remembered.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Operational flow, waiting, sequencing and how much the customer is asked to 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tangible and peripheral cues that signal the quality of something invisible.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space works as a behavioural stimulus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Ambient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Space and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Signs and symbols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Internal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Approach or avoid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Designing the servicescape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Stimulus · the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Response · the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Stimulus: ambient conditions, layout and equipment, signage, décor and brand livery.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These cues act on customers and employees at the same time.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are read before anyone speaks, so they set the expectation the service must then meet.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Response: approach behaviour means explore, stay longer, engage and return.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Avoidance behaviour means disengage, leave early and discount the promise.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Digital environments carry the same load — layout, speed, clarity and tone are servicescape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delivery as a staged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Front stage ·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Back stage · invisible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Front stage is everything the customer can see: the setting, the interaction and the visible sequence.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Frontline employees perform the promise, often doing emotional labour to hold it steady.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line of visibility marks where customer experience ends and operational mechanics begin.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Back stage is the support work, systems, training and management that make the front stage possible.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Customers judge the front stage but failures usually originate behind the line.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Blueprint both sides to find friction and fail points before customers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moments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Before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Discovery, search, enquiry, comparison and booking.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Welcome, diagnosis, delivery, waiting, handoff and payment.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After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Onboarding, follow-up, support, renewal and advocacy.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Recognition, ownership, recovery and learning.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Standardise and personalise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Standardise non-negotiable outcomes, safety, accuracy and brand-critical cues.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handoffs and exception ownership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Measure whether the minimum promise is delivered.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Personalise language, recommendation, pace and support to customer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Give employees bounded judgement, not unlimited discretion.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privacy and fairness when data drives personalisation.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blueprint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Frontstage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Backstage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Support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and metric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Consistency without sameness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core benefit remains dependable.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Character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brand feels recognisable across channels.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adapts to channel and customer need.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Exceptions are owned, logged and learned from.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Relationship-building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Make expert help easy to 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Continuity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Remember context and reduce repeated effort.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Reciprocity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useful exchanges beyond the transaction.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Strategy becomes real at the next customer touchpoint.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If the promise cannot guide a design or operating decision, it is still too vague.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Activities — From Brand Strategy to Service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Ritz-Carlton: Promise-to-Proof Service Blueprint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Starbucks: Redesign the Third-Place Journey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Evidence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Named public case source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Training assumptions clearly separated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Ritz-Carlton: Promise-to-Proof Service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the Ritz-Carlton Gold Standards as a public reference for translating brand intent into observable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Promise-to-proof architecture and five-layer service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Ritz-Carlton public standards · journey cards · blueprint template · peer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Ritz-Carlton publicly presents its Gold Standards—including its credo, motto and service values—as the foundation of its service culture.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https://www.ritzcarlton.com/en/services/standards/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eldercare concierge, personas and operational data are fictional and are not connected to Ritz-Carlton.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Families value dignity, clarity, continuity and rapid escalation when care needs change.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organisation has 12 advisors across phone, WhatsApp and in-person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strategic promise should the concierge make, and to whom?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service principles and observable standards would make the promise real?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should delivery be standardised, and where should employees exercise judgement?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physical or digital evidence would reassure families before and during service?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Ritz-Carlton: Promise-to-Proof Service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blueprint traces one promise through principles, observable standards, backstage enablers, tangible cues and measures, with explicit privacy and safeguarding guardrails.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Starbucks: Redesign the Third-Place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Starbucks's public mission as a lens for aligning positioning, environment, people and process across a service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Journey map, 7Ps alignment review and differentiated concept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Starbucks public mission · persona cards · 7Ps canvas · concept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Starbucks states a mission centred on coffee, the human spirit, connection and belonging, expressed through person, cup and neighbourhood.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https://about.starbucks.com/mission/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café, customer data, budget and constraints are fictional training inputs.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Its priority segment is hybrid workers and nearby residents seeking calm, reliable social connection.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café can adjust layout, booking, host behaviour, menu presentation and community programming.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4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customer job and emotional outcome should define the café's position?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7Ps currently contradict the intended brand experience?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three moments could become distinctive and difficult to copy?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will the team balance belonging, accessibility and commercial viability?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Starbucks: Redesign the Third-Place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future journey targets a defined audience, aligns all 7Ps, contains three signature moments with operational enablers, and addresses accessibility and viability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From Brand Strategy to Service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Ritz-Carlton: Promise-to-Proof Service Blueprint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organisation branding strategy to service standards and touchpoints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Starbucks: Redesign the Third-Place Journey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service-brand strategy to differentiate a real customer 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public facts, organisation evidence and training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each improvement to a decision, owner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Champion Adoption and Deliver the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internal branding · leadership · employee enablement · culture ·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Champion Adoption and Deliver the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Internal 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Employees need shared meaning, capability and reinforcement—not slogans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leaders fund, model, recognise and correct signals the true brand.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Enablement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Training, tools, decision rights and feedback turn intent into repeatable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well-owned failure can restore confidence and reveal where the system must improve.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brand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Believe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Know 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Have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 and reinforce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Employee brand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who the service is for and why the promise matters.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how each function affects the customer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Practise the behaviours and judgement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Reinforcement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measures, recognition, coaching and consequences.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communication and internal branding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Communication distributes messages and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Awareness is necessary but not sufficient.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Campaigns fade if systems reward different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branding aligns culture, capability and operations with the promise.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Employees test the promise against daily reality.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Leaders must resolve contradictions.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 a co-created service, the employee is the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gap that damages brands is between the promise marketing makes and the delivery employees execute at the moment of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inputs that build brand commitment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Internal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Top-down clarity about the promise combined with bottom-up feedback that is actually used.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 information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Exposing staff to real customer feedback and competitor behaviour, not filtered summaries.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training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Moving past generic service skills to teach the brand-specific behaviours this promise requires.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leadership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Managers acting as visible role models, especially when the promise is costly to keep.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alone does not produce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538728"/>
            <a:ext cx="3374136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538728"/>
            <a:ext cx="3374136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3813048"/>
            <a:ext cx="2935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Brand knowledge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Cognitive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654296"/>
            <a:ext cx="293522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 know what the brand stands for. Necessary, but on its own it changes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3739896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971800"/>
            <a:ext cx="3374136" cy="3081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971800"/>
            <a:ext cx="337413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246120"/>
            <a:ext cx="2935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Brand commitment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Psychological bond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4087368"/>
            <a:ext cx="2935224" cy="181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 believe in the brand and want it to succeed — an emotional attachment, not just compliance.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172968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404872"/>
            <a:ext cx="3374136" cy="36484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6" y="2404872"/>
            <a:ext cx="337413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679192"/>
            <a:ext cx="2935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Brand performance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Behavioural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3520440"/>
            <a:ext cx="2935224" cy="2386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 deliver the promise consistently at the moment of truth, including when it is inconvenient.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Leader actions that build credibility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 the language and standards in real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Remove barriers and fund brand-critical capabilities.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Reinforce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Recognise evidence and address promise-breaking behaviour.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champion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Sponsor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Owns strategic commitment and cross-functional barriers.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Champions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Translate the promise into local context and collect feedback.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Coach performance and manage exceptions.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Employees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Deliver, observe, recover and improve the experience.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Behaviour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Desired customer feeling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Observable behaviour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Tool or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Coaching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Empowerment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outcome employees should protect.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privacy, legal and financial boundaries.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Decisions and resources available without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Escalation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Clear route when needs exceed authority.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Storytelling with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specific customer and employee moments.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 the action to the promise and outcome.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Include tension, judgement and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invented testimonials or unsupported hero stories.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turn systemic failures into individual blame.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confidentiality and consent.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Service-recovery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Recognise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Stabilise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Restore confidence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Recovery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 fairness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reasonable fix, replacement or remedy.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 fairness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 effort, timely handling and clear ownership.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Interaction fairness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Respect, empathy and credible explanation.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Cause, action owner and prevention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Adoption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Training completion, confidence, tool use and coaching.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Observed standards, handoff quality and recovery ownership.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experience, rework, retention and referrals.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Employees cannot deliver a promise the organisation does not enable.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Internal branding is the operating system behind the external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Activities — Champion Adoption and Deliver the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Zappos: Build an Internal Brand Adoption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Airbnb: Recover Trust Across a Service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Evidence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Named public case source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Training assumptions clearly separated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Zappos: Build an Internal Brand Adoption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Zappos's public culture materials to design an adoption system that aligns meaning, capability and reinforcement.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Internal-brand charter, champion network and 30-day adoption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Zappos culture source · stakeholder map · behaviour cards · adoption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Zappos Insights publicly describes a culture shaped by core values and employee behaviours, and offers culture-focused learning based on the company's experience.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https://www.zapposinsights.com/about/culture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marketplace, interview statements and performance data are fictional and not Zappos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Employees understand the words but lack examples, authority and aligned performance measures.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Field partners are contractors; adoption must include onboarding and quality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5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must employees understand, believe, know and be able to do?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three behaviours best express dependable care at critical moments?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systems currently contradict the promise?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champions, managers and leaders reinforce adoption?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Zappos: Build an Internal Brand Adoption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names role-specific behaviours, tools and guardrails; assigns sponsor/champion/manager ownership; and includes leading, behavioural and outcome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Airbnb: Recover Trust Across a Service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Airbnb's public description of its community marketplace to design brand-consistent recovery across customer, provider and platform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Service-recovery playbook, decision matrix and learning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Airbnb public facts · incident cards · recovery matrix · debrief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6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Airbnb describes itself as a community built around connection, enabled by hosts offering stays and experiences to guests through its platform.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https://news.airbnb.com/about-us/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booking platform, incident, family and financial amounts are fictional and not an Airbnb event.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booking value is S$480 and an alternative provider is available at S$620 two hours later.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Frontline agents may approve S$150 without escalation; safety and fraud flags require specialist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6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outcome, process and interaction fairness does the customer need?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owns the recovery when value is co-created by several parties?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authority and guardrails should frontline employees have?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would show confidence is restored and the system improved?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Airbnb: Recover Trust Across a Service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playbook protects outcome/process/interaction fairness, assigns ecosystem ownership, respects authority limits, and closes with a verified improvement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Champion Adoption and Deliver the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Zappos: Build an Internal Brand Adoption System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Champion adoption of the service brand through culture and employee enablement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Airbnb: Recover Trust Across a Service Ecosystem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Champion the service brand during failure and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public facts, organisation evidence and training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each improvement to a decision, owner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Evaluate and Improve Service-Brand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measurement system · KPI logic · journey evidence · diagnosis ·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Evaluate and Improve Service-Brand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balanced chain of measures rather than one headline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Causality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employee and operational drivers to customer and business 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Averages hide differences by journey, channel, audience and recovery status.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measure needs a decision, owner, threshold and review cadence.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Brand-impact measurement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Delivery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Commercial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measurement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Awareness, consideration, trust, effort, satisfaction and advocacy.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Employee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Understanding, belief, confidence, enablement and observed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Accuracy, wait, resolution, handoff, recovery and consistency.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Conversion, retention, referral, share of wallet and revenue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Leading and lagging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Leading: training, confidence, staffing, standard adherence and response time.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provide earlier signals and can be influenced directly.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do not prove customer or commercial impact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Lagging: trust, retention, referrals, complaints and revenue outcomes.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confirm accumulated results but arrive later.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may be affected by price, seasonality and market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customer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Relationship or journey advocacy; pair with reasons and behaviour.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CSAT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Satisfaction with a defined interaction or outcome.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Effort required to complete a task or resolve an issue.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Qualitative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Interviews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Explore meaning, trade-offs and unmet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See actual behaviour and friction in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 repeated language, moments and expectations.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Reveal failure patterns, ownership and recovery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useful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 and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and cadence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Measurement quality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Represents the construct or outcome claimed.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Reliable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Produces comparable results under defined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Available before the decision window closes.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Has a clear owner and response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Correlation and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whether brand-related changes move with experience and business results.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journey and segment comparisons to narrow explanations.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uncertainty and alternative drivers.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claiming one campaign caused all commercial change.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experiments, phased rollout or matched comparison where feasible.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Triangulate quantitative and qualitative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customer outcome the dashboard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small set of driver and outcome measures.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Target, trend, segment and notable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decision, due date and expected effect.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Insight-to-improvement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or stop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Evaluation cadences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Daily or weekly exceptions and recovery.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Monthly performance and qualitative themes.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Strategic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Quarterly position, portfolio and investment choices.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architecture of value actualisation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2962656"/>
            <a:ext cx="27432" cy="182880"/>
          </a:xfrm>
          <a:prstGeom prst="rect">
            <a:avLst/>
          </a:prstGeom>
          <a:solidFill>
            <a:srgbClr val="D8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77156" y="4590288"/>
            <a:ext cx="27432" cy="384048"/>
          </a:xfrm>
          <a:prstGeom prst="rect">
            <a:avLst/>
          </a:prstGeom>
          <a:solidFill>
            <a:srgbClr val="D8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84364" y="4590288"/>
            <a:ext cx="27432" cy="384048"/>
          </a:xfrm>
          <a:prstGeom prst="rect">
            <a:avLst/>
          </a:prstGeom>
          <a:solidFill>
            <a:srgbClr val="D8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8092" y="3127248"/>
            <a:ext cx="1572768" cy="15727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8092" y="3127248"/>
            <a:ext cx="1572768" cy="1572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Seamless service performance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The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7036" y="1755648"/>
            <a:ext cx="4754880" cy="11704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17036" y="1755648"/>
            <a:ext cx="91440" cy="11704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1356" y="1883664"/>
            <a:ext cx="42519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philosophy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Service-dominant logic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Shift focus from selling objects to co-creating value-in-use with the customer.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56048"/>
            <a:ext cx="4892040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956048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84064"/>
            <a:ext cx="438912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engine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Internal branding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Align, equip and empower the people who deliver the promise.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956048"/>
            <a:ext cx="4892040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4956048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084064"/>
            <a:ext cx="438912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stage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Servicescape and process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the physical, digital and operational environment that guides behaviour.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strategic imperatives for an intangible economy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Sell outcomes, not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proposition around the capability enabled, not the item distributed.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Blueprint the theatre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 front-stage interaction and back-stage process to remove friction and locate fail 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 the 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Treat physical and digital space as a signal of quality that shapes what customers 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Build from the inside 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Fund internal capability as seriously as external marketing; employees are the brand asset.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metric is useful only when it changes a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Measure the promise, diagnose the experience and close the improvement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Applied Activities — Evaluate and Improve Service-Brand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Singapore Airlines: Design a Balanced Brand-Impact Scorecard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BOP Design: Evaluate a Human B2B Brand in an AI-Saturated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Evidence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Named public case source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Training assumptions clearly separated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Singapore Airlines: Design a Balanced Brand-Impact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Singapore Airlines's public service story as the context for a scorecard that connects employee capability, delivery and customer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KPI dictionary, balanced scorecard and monthly review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SIA public story · KPI cards · mock journey data · metric-quality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7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Singapore Airlines publicly describes a longstanding focus on service excellence, innovation and the Singapore Girl as part of its brand story.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https://www.singaporeair.com/en_UK/us/about-us/our-story/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airline, promise and dataset are fictional and must not be attributed to Singapore Airlines.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mock data includes employee confidence, departure communication, first-contact resolution, effort, satisfaction, complaints and repeat booking.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dashboard has space for eight measures and must support a monthly management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7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leading and lagging measures best test the promise?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results be segmented to expose inconsistency?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metric definitions or data sources could mislead management?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threshold should trigger action, and who owns the response?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Singapore Airlines: Design a Balanced Brand-Impact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KPI has a decision, definition, source, owner and threshold; the set balances four evidence lenses; and the analysis identifies a segment-level action without unsupported causal claims.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BOP Design: Evaluate a Human B2B Brand in an AI-Saturated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BOP Design's 2026–2027 trend perspective to build an evaluation plan for a real B2B professional-service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Evaluation design, evidence synthesis and 90-day experiment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BOP Design article · research matrix · mock funnel data · experiment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8 · REAL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Public Facts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BOP Design argues that B2B brands in 2026–2027 need coherent systems, human relevance, strategic AI use, clearer data communication and consistency across machine- and human-mediated discovery.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https://www.bopdesign.com/bop-blog/b2b-branding-trends-for-2026-and-2027/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advisory firm, research quotes and funnel data are fictional training inputs, not BOP Design client results.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team can run interviews, analyse search/enquiry data and test one website/service-introduction change over 90 days.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firm promises 'Clear decisions in complex cyber risk'.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8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Discussion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evidence would distinguish awareness growth from stronger brand preference?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can the firm test whether generic AI-mediated content weakened trust?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human and system cues should be evaluated across the buyer journey?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90-day experiment offers the clearest learning at acceptable risk?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DEBRIEF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BOP Design: Evaluate a Human B2B Brand in an AI-Saturated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evaluation triangulates at least three evidence types, states limitations and alternative explanations, and defines an ethical experiment with success, guardrail and stop/scale criteria.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Evaluate and Improve Service-Brand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Singapore Airlines: Design a Balanced Brand-Impact Scorecard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service-brand impact using balanced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BOP Design: Evaluate a Human B2B Brand in an AI-Saturated Market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current service-brand impact and recommend an evidence-based 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public facts, organisation evidence and training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each improvement to a decision, owner and review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Make the Promise Observable and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Explain how a service brand creates business impact, trust, differentiation and customer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an organisation's brand strategy to service promises, touchpoints and competitive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Champion service-brand adoption through employees, communication, experience design and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service-brand impact using customer, employee, operational and commercial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service-brand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and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Promise and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Experience and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Recovery and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Shopify — Service branding strategies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https://www.shopify.com/sg/blog/service-branding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Lume — Branding in service marketing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https://www.lumeishere.com/blog/branding-in-service-marketing?p=4rihRRyWXheesz5AS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become.team — Service branding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https://become.team/blogs/service-branding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BrandExtract — Branding a service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https://www.brandextract.com/Insights/Articles/Branding-a-Service-3-Strategies-That-Work/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LinkedIn — Service-industry branding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https://www.linkedin.com/pulse/branding-service-industry-strategies-differentiating-your-singh-xgope/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MAD Designs — Branding in the service industry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https://www.maddesigns.in/blog/what-is-the-role-of-branding-in-the-service-industry/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SLM — Building a strong service brand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https://slm.mba/mmpm-005/building-strong-service-brand-process-strategies/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Scribd — Branding of services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https://www.scribd.com/presentation/439218850/branding-of-services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GBMR — Internal branding in services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https://www.gbmrjournal.com/pdf/vol.%2010%20no.%204/V10N4_3.pdf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Phable — Service branding and service-dominant logic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https://www.phable.io/phable-labs/service-branding-service-dominant-logic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Wikipedia — Services marketing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https://en.wikipedia.org/wiki/Services_marketing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Vargo &amp; Lusch — Service-dominant logic (value-in-use and co-creation)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https://en.wikipedia.org/wiki/Service-dominant_logic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Bitner — The servicescape and stimulus–response behaviour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https://en.wikipedia.org/wiki/Servicescape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BOP Design — B2B branding trends 2026–2027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https://www.bopdesign.com/bop-blog/b2b-branding-trends-for-2026-and-2027/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DBS — Our promise to you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https://www.dbs.com/about-us/who-we-are/our-promise-to-you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Zappos Insights — Culture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https://www.zapposinsights.com/about/culture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Airbnb — About us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https://news.airbnb.com/about-us/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course feedback form before you leave.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comments help us refine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Revisit the slides, Learner Guide and activities.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SERVICE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Build a clear promise, enable people to deliver it and improve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Mastering Service Branding Strategies to Grow Your Business  ·  C233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